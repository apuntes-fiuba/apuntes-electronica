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xls" ContentType="application/vnd.ms-excel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84" r:id="rId1"/>
  </p:sldMasterIdLst>
  <p:notesMasterIdLst>
    <p:notesMasterId r:id="rId20"/>
  </p:notesMasterIdLst>
  <p:sldIdLst>
    <p:sldId id="301" r:id="rId2"/>
    <p:sldId id="281" r:id="rId3"/>
    <p:sldId id="274" r:id="rId4"/>
    <p:sldId id="277" r:id="rId5"/>
    <p:sldId id="279" r:id="rId6"/>
    <p:sldId id="278" r:id="rId7"/>
    <p:sldId id="340" r:id="rId8"/>
    <p:sldId id="280" r:id="rId9"/>
    <p:sldId id="339" r:id="rId10"/>
    <p:sldId id="300" r:id="rId11"/>
    <p:sldId id="341" r:id="rId12"/>
    <p:sldId id="256" r:id="rId13"/>
    <p:sldId id="342" r:id="rId14"/>
    <p:sldId id="288" r:id="rId15"/>
    <p:sldId id="291" r:id="rId16"/>
    <p:sldId id="292" r:id="rId17"/>
    <p:sldId id="293" r:id="rId18"/>
    <p:sldId id="284" r:id="rId19"/>
  </p:sldIdLst>
  <p:sldSz cx="9144000" cy="6858000" type="screen4x3"/>
  <p:notesSz cx="6858000" cy="9144000"/>
  <p:defaultTextStyle>
    <a:defPPr>
      <a:defRPr lang="es-ES_tradnl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0066"/>
    <a:srgbClr val="0033CC"/>
    <a:srgbClr val="3366FF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9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9725D5F9-5D47-488F-A0AE-F9D537BFC70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104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9EF26E-81E3-4DFF-B7F5-C2C050173346}" type="slidenum">
              <a:rPr lang="es-ES" smtClean="0"/>
              <a:pPr>
                <a:defRPr/>
              </a:pPr>
              <a:t>2</a:t>
            </a:fld>
            <a:endParaRPr lang="es-E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DD5AB-083E-4B14-8DA2-6E53B78D8268}" type="slidenum">
              <a:rPr lang="es-ES" smtClean="0"/>
              <a:pPr>
                <a:defRPr/>
              </a:pPr>
              <a:t>3</a:t>
            </a:fld>
            <a:endParaRPr lang="es-E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BA6D52-9AAA-40B6-A033-551B55718CB2}" type="slidenum">
              <a:rPr lang="es-ES" smtClean="0"/>
              <a:pPr>
                <a:defRPr/>
              </a:pPr>
              <a:t>4</a:t>
            </a:fld>
            <a:endParaRPr lang="es-E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895B9C-B196-4474-979B-84094F000611}" type="slidenum">
              <a:rPr lang="es-ES" smtClean="0"/>
              <a:pPr>
                <a:defRPr/>
              </a:pPr>
              <a:t>5</a:t>
            </a:fld>
            <a:endParaRPr lang="es-E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52A7DA-F2BB-41CA-B84D-437A9A94D1F9}" type="slidenum">
              <a:rPr lang="es-ES" smtClean="0"/>
              <a:pPr>
                <a:defRPr/>
              </a:pPr>
              <a:t>6</a:t>
            </a:fld>
            <a:endParaRPr lang="es-E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3E7709-BE79-4568-912E-25C979011E4E}" type="slidenum">
              <a:rPr lang="es-ES" smtClean="0"/>
              <a:pPr>
                <a:defRPr/>
              </a:pPr>
              <a:t>8</a:t>
            </a:fld>
            <a:endParaRPr lang="es-E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4B3E96-EBD6-4ACD-9168-52D7AEC10301}" type="slidenum">
              <a:rPr lang="es-ES" smtClean="0"/>
              <a:pPr>
                <a:defRPr/>
              </a:pPr>
              <a:t>12</a:t>
            </a:fld>
            <a:endParaRPr lang="es-E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124FD8-5753-4C82-ABEB-1A1D903AC1C8}" type="slidenum">
              <a:rPr lang="es-ES" smtClean="0"/>
              <a:pPr>
                <a:defRPr/>
              </a:pPr>
              <a:t>14</a:t>
            </a:fld>
            <a:endParaRPr lang="es-E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C0A2E6-1FB4-454E-B96F-096D74634045}" type="slidenum">
              <a:rPr lang="es-ES" smtClean="0"/>
              <a:pPr>
                <a:defRPr/>
              </a:pPr>
              <a:t>15</a:t>
            </a:fld>
            <a:endParaRPr lang="es-E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5972DC-5F8D-4DEF-8978-9C715C2D537D}" type="slidenum">
              <a:rPr lang="es-ES" smtClean="0"/>
              <a:pPr>
                <a:defRPr/>
              </a:pPr>
              <a:t>16</a:t>
            </a:fld>
            <a:endParaRPr lang="es-E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7C2ED9-8D0D-466C-A8D6-1A33DC412AD1}" type="slidenum">
              <a:rPr lang="es-ES" smtClean="0"/>
              <a:pPr>
                <a:defRPr/>
              </a:pPr>
              <a:t>17</a:t>
            </a:fld>
            <a:endParaRPr lang="es-E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3EEE55-0E8E-412B-90EB-744C3094AD83}" type="slidenum">
              <a:rPr lang="es-ES" smtClean="0"/>
              <a:pPr>
                <a:defRPr/>
              </a:pPr>
              <a:t>18</a:t>
            </a:fld>
            <a:endParaRPr lang="es-E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95066-A0A8-4EC7-9BBD-E661DB05DACF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9E6E4-25E2-4148-AA45-5DE3C5B5A5C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BEF6D4-C964-42BE-8E0C-5331D3E1826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71E9D-24A5-4C40-AD2E-8A61E6BCC7B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0B3C7-7F79-4B96-ABDE-A9685879F3A8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789384-5040-403F-99CA-FD13189E8FE7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BE7A8-4723-4CD1-A97D-2FAF2EDE8EE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165A5F-D1BF-4844-94C2-43EAB36BB3B7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AF0C1-E219-4F8C-9FE3-963E8DF73A49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B20CE-6A2C-49DC-97B1-73F3D305AC1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8CF26-B567-46BC-B2AB-1947FD255FF3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19D31F-C435-4F7D-A7BD-B4F392169B1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oleObject" Target="../embeddings/Microsoft_Excel_97-2003_Worksheet1.xls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smtClean="0"/>
          </a:p>
        </p:txBody>
      </p:sp>
      <p:sp>
        <p:nvSpPr>
          <p:cNvPr id="4099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Monotype Sorts"/>
              <a:buNone/>
            </a:pPr>
            <a:endParaRPr lang="es-AR" sz="4800" b="1" dirty="0" smtClean="0"/>
          </a:p>
          <a:p>
            <a:pPr algn="ctr">
              <a:buFont typeface="Monotype Sorts"/>
              <a:buNone/>
            </a:pPr>
            <a:r>
              <a:rPr lang="es-AR" sz="4800" b="1" dirty="0" smtClean="0"/>
              <a:t>VALUACIONES</a:t>
            </a:r>
          </a:p>
        </p:txBody>
      </p:sp>
      <p:pic>
        <p:nvPicPr>
          <p:cNvPr id="4101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b="1" smtClean="0">
                <a:latin typeface="Tahoma" pitchFamily="34" charset="0"/>
              </a:rPr>
              <a:t>MÉTODOS DE VALUACIÓN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42910" y="1571612"/>
            <a:ext cx="8134350" cy="4114800"/>
          </a:xfrm>
        </p:spPr>
        <p:txBody>
          <a:bodyPr>
            <a:normAutofit/>
          </a:bodyPr>
          <a:lstStyle/>
          <a:p>
            <a:pPr eaLnBrk="1" hangingPunct="1">
              <a:buFont typeface="Arial" pitchFamily="34" charset="0"/>
              <a:buChar char="•"/>
            </a:pPr>
            <a:r>
              <a:rPr lang="es-ES" sz="2600" b="1" dirty="0" smtClean="0"/>
              <a:t>EMPIRICO:  </a:t>
            </a:r>
            <a:r>
              <a:rPr lang="es-ES" sz="2600" dirty="0" smtClean="0"/>
              <a:t>Valor de reposición. – Depreciación técnica</a:t>
            </a:r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endParaRPr lang="es-ES" sz="2800" dirty="0" smtClean="0"/>
          </a:p>
          <a:p>
            <a:pPr eaLnBrk="1" hangingPunct="1">
              <a:buFont typeface="Arial" pitchFamily="34" charset="0"/>
              <a:buChar char="•"/>
            </a:pPr>
            <a:r>
              <a:rPr lang="es-ES" sz="2800" b="1" dirty="0" smtClean="0"/>
              <a:t>ANALÍTICO: </a:t>
            </a:r>
            <a:r>
              <a:rPr lang="es-ES" sz="2800" dirty="0" smtClean="0"/>
              <a:t>Valor actual de la renta futura</a:t>
            </a:r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endParaRPr lang="es-ES" sz="2400" dirty="0" smtClean="0"/>
          </a:p>
          <a:p>
            <a:pPr eaLnBrk="1" hangingPunct="1">
              <a:buFont typeface="Arial" pitchFamily="34" charset="0"/>
              <a:buChar char="•"/>
            </a:pPr>
            <a:r>
              <a:rPr lang="es-ES" sz="2400" b="1" dirty="0" smtClean="0"/>
              <a:t>COMPARATIVO</a:t>
            </a:r>
          </a:p>
          <a:p>
            <a:pPr eaLnBrk="1" hangingPunct="1"/>
            <a:endParaRPr lang="es-ES" dirty="0" smtClean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357422" y="2071678"/>
            <a:ext cx="6351608" cy="4794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rgbClr val="000099"/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s-A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Costo de reposición depreciado</a:t>
            </a:r>
            <a:endParaRPr lang="es-AR" sz="28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6050" y="5072074"/>
            <a:ext cx="5500726" cy="547688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rgbClr val="000099"/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s-A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Valor de mercado – Valor venal</a:t>
            </a:r>
            <a:endParaRPr lang="es-AR" sz="28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357422" y="3643314"/>
            <a:ext cx="6357982" cy="579438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rgbClr val="000099"/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A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Capitalización de la renta – Valor de uso</a:t>
            </a:r>
            <a:endParaRPr lang="es-AR" sz="28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pic>
        <p:nvPicPr>
          <p:cNvPr id="7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70" decel="100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770" decel="100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b="1" smtClean="0">
                <a:latin typeface="Tahoma" pitchFamily="34" charset="0"/>
              </a:rPr>
              <a:t>MÉTODOS DE VALUACIÓN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785786" y="1785926"/>
            <a:ext cx="8137525" cy="5072074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MAQUINARIAS E INSTALACIONES (método empírico)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CONSTRUCCIONES, EDIFICIOS, MEDIANERAS (método empírico)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INMUEBLES (edificio + terreno) / TERRENOS (método comparativo)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EMPRESAS, ESTABLECIMIENTOS COMERCIALES  (método analítico)</a:t>
            </a:r>
          </a:p>
        </p:txBody>
      </p:sp>
      <p:pic>
        <p:nvPicPr>
          <p:cNvPr id="4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863600"/>
          </a:xfrm>
        </p:spPr>
        <p:txBody>
          <a:bodyPr anchor="ctr"/>
          <a:lstStyle/>
          <a:p>
            <a:pPr algn="ctr" eaLnBrk="1" hangingPunct="1"/>
            <a:r>
              <a:rPr lang="es-ES" b="1" dirty="0" smtClean="0">
                <a:latin typeface="Century Gothic" pitchFamily="34" charset="0"/>
              </a:rPr>
              <a:t>DEFINICIONES PREVIAS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714348" y="1214422"/>
            <a:ext cx="8139140" cy="465774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venal o de Mercado (oferta/demanda)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de inventario, de libros o contable (costo histórico menos amortizaciones o valor corriente).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impositivo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de expropiación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de reposición (lo que costaría reemplazar la cosa por otra similar, al momento de valuar)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Valor residual (valor al final de su vida útil)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Amortización = pérdida del valor contablemente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Depreciación = pérdida del valor por tiempo, uso, obsolescencia técnica y estado de conservación.</a:t>
            </a:r>
          </a:p>
          <a:p>
            <a:pPr eaLnBrk="1" hangingPunct="1">
              <a:lnSpc>
                <a:spcPct val="90000"/>
              </a:lnSpc>
            </a:pPr>
            <a:endParaRPr lang="es-ES" sz="2800" dirty="0" smtClean="0"/>
          </a:p>
          <a:p>
            <a:pPr eaLnBrk="1" hangingPunct="1">
              <a:lnSpc>
                <a:spcPct val="90000"/>
              </a:lnSpc>
            </a:pPr>
            <a:endParaRPr lang="es-ES" sz="2800" dirty="0" smtClean="0"/>
          </a:p>
        </p:txBody>
      </p:sp>
      <p:pic>
        <p:nvPicPr>
          <p:cNvPr id="4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280400" cy="8032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s-ES" b="1" dirty="0" smtClean="0"/>
              <a:t>OBJETO DE LA VALUACIÓN</a:t>
            </a:r>
            <a:br>
              <a:rPr lang="es-ES" b="1" dirty="0" smtClean="0"/>
            </a:br>
            <a:r>
              <a:rPr lang="es-ES" b="1" dirty="0" smtClean="0"/>
              <a:t>PARA QUÉ SE VALÚA?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57224" y="1142984"/>
            <a:ext cx="7772400" cy="4619625"/>
          </a:xfrm>
        </p:spPr>
        <p:txBody>
          <a:bodyPr>
            <a:normAutofit fontScale="85000" lnSpcReduction="20000"/>
          </a:bodyPr>
          <a:lstStyle/>
          <a:p>
            <a:r>
              <a:rPr lang="es-ES" sz="2800" dirty="0" smtClean="0"/>
              <a:t>Para fusionar/transferir/escindir empresas (Derecho comercial)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fijar tarifas (Aspectos regulatorios - servicios públicos)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fijar impuestos (Fiscal)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vender/expropiar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impartir justicia (judicial)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asegurar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ofrecer bienes en garantía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tomar decisiones empresariales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sz="2800" dirty="0" smtClean="0"/>
              <a:t>Para ajustar registros contables a la realidad </a:t>
            </a:r>
            <a:r>
              <a:rPr lang="es-ES" sz="2400" dirty="0" smtClean="0"/>
              <a:t>(Resolución técnica 17 de la Federación  Argentina de Consejos Profesionales de </a:t>
            </a:r>
            <a:r>
              <a:rPr lang="es-ES" sz="2400" dirty="0" err="1" smtClean="0"/>
              <a:t>Cs.</a:t>
            </a:r>
            <a:r>
              <a:rPr lang="es-ES" sz="2400" dirty="0" smtClean="0"/>
              <a:t> Económicas)</a:t>
            </a:r>
          </a:p>
        </p:txBody>
      </p:sp>
      <p:pic>
        <p:nvPicPr>
          <p:cNvPr id="9220" name="Picture 21" descr="MCBS00508_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702" y="2857496"/>
            <a:ext cx="1574800" cy="166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s-ES" b="1" dirty="0" smtClean="0">
                <a:solidFill>
                  <a:schemeClr val="tx1"/>
                </a:solidFill>
              </a:rPr>
              <a:t>PROCEDIMIENTO PARA VALUAR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dirty="0" smtClean="0"/>
              <a:t>Identificar el bien a valuar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dirty="0" smtClean="0"/>
              <a:t>Describir el bien a valuar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dirty="0" smtClean="0"/>
              <a:t>Justificar la elección del método de valuación en función del objeto de la valuación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dirty="0" smtClean="0"/>
              <a:t>Definir las partes a valuar por separado</a:t>
            </a:r>
          </a:p>
          <a:p>
            <a:pPr eaLnBrk="1" hangingPunct="1">
              <a:lnSpc>
                <a:spcPct val="90000"/>
              </a:lnSpc>
              <a:buFont typeface="Monotype Sorts"/>
              <a:buNone/>
            </a:pPr>
            <a:r>
              <a:rPr lang="es-ES" sz="1600" dirty="0" smtClean="0"/>
              <a:t>      Terreno / edificio / maquinarias / instalaciones / bienes inmateriales </a:t>
            </a:r>
          </a:p>
          <a:p>
            <a:pPr eaLnBrk="1" hangingPunct="1">
              <a:lnSpc>
                <a:spcPct val="90000"/>
              </a:lnSpc>
              <a:buFont typeface="Monotype Sorts"/>
              <a:buNone/>
            </a:pPr>
            <a:r>
              <a:rPr lang="es-ES" sz="1600" dirty="0" smtClean="0"/>
              <a:t>       (</a:t>
            </a:r>
            <a:r>
              <a:rPr lang="es-ES" sz="1600" dirty="0" err="1" smtClean="0"/>
              <a:t>goodwill</a:t>
            </a:r>
            <a:r>
              <a:rPr lang="es-ES" sz="1600" dirty="0" smtClean="0"/>
              <a:t>, contratos, patentes, marcas) / Empresa en marcha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dirty="0" smtClean="0"/>
              <a:t>Fecha y lugar de la valuación</a:t>
            </a:r>
          </a:p>
          <a:p>
            <a:pPr eaLnBrk="1" hangingPunct="1">
              <a:lnSpc>
                <a:spcPct val="90000"/>
              </a:lnSpc>
              <a:buFont typeface="Monotype Sorts"/>
              <a:buNone/>
            </a:pPr>
            <a:r>
              <a:rPr lang="es-ES" sz="2000" dirty="0" smtClean="0"/>
              <a:t>	</a:t>
            </a:r>
            <a:endParaRPr lang="es-ES" dirty="0" smtClean="0"/>
          </a:p>
        </p:txBody>
      </p:sp>
      <p:pic>
        <p:nvPicPr>
          <p:cNvPr id="4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METODO COMPARATIVO</a:t>
            </a:r>
            <a:br>
              <a:rPr lang="es-ES" b="1" dirty="0" smtClean="0"/>
            </a:br>
            <a:r>
              <a:rPr lang="es-ES" b="1" dirty="0" smtClean="0"/>
              <a:t>(valuación de un terreno)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dirty="0" smtClean="0"/>
              <a:t>Se consultan valores de operaciones de compra venta de otros terrenos comparables</a:t>
            </a:r>
          </a:p>
          <a:p>
            <a:r>
              <a:rPr lang="es-AR" dirty="0" smtClean="0"/>
              <a:t>Se calcula el valor unitario  homogéneo ($/m2) de la tierra en la zona utilizando factores de ajuste (factor de homogenización) que tienen en cuenta las diferencias de dimensiones, forma, orientación, FOT, </a:t>
            </a:r>
            <a:r>
              <a:rPr lang="es-AR" dirty="0" err="1" smtClean="0"/>
              <a:t>etc</a:t>
            </a:r>
            <a:r>
              <a:rPr lang="es-AR" dirty="0" smtClean="0"/>
              <a:t>…</a:t>
            </a:r>
          </a:p>
          <a:p>
            <a:endParaRPr lang="es-AR" dirty="0" smtClean="0"/>
          </a:p>
          <a:p>
            <a:pPr>
              <a:lnSpc>
                <a:spcPct val="80000"/>
              </a:lnSpc>
            </a:pPr>
            <a:r>
              <a:rPr lang="es-ES" sz="4000" dirty="0" smtClean="0"/>
              <a:t>Valor del terreno = </a:t>
            </a:r>
            <a:r>
              <a:rPr lang="es-ES" sz="4000" dirty="0" err="1" smtClean="0"/>
              <a:t>Sup</a:t>
            </a:r>
            <a:r>
              <a:rPr lang="es-ES" sz="4000" dirty="0" smtClean="0"/>
              <a:t> x Valor </a:t>
            </a:r>
            <a:r>
              <a:rPr lang="es-ES" sz="4000" dirty="0" err="1" smtClean="0"/>
              <a:t>unit</a:t>
            </a:r>
            <a:r>
              <a:rPr lang="es-ES" sz="4000" dirty="0" smtClean="0"/>
              <a:t> ( $/m</a:t>
            </a:r>
            <a:r>
              <a:rPr lang="es-ES" sz="4000" baseline="36000" dirty="0" smtClean="0"/>
              <a:t>2</a:t>
            </a:r>
            <a:r>
              <a:rPr lang="es-ES" sz="4000" dirty="0" smtClean="0"/>
              <a:t>) x Aj</a:t>
            </a:r>
          </a:p>
          <a:p>
            <a:pPr>
              <a:lnSpc>
                <a:spcPct val="80000"/>
              </a:lnSpc>
              <a:buNone/>
            </a:pPr>
            <a:r>
              <a:rPr lang="es-ES" sz="4000" dirty="0" smtClean="0"/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s-ES" dirty="0" smtClean="0"/>
              <a:t>Aj = coeficiente de ajuste (lo estima el ingeniero) tiene en cuenta las diferencias entre el valor m2 del terreno valuado respecto de los comparativos.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-428660" y="214290"/>
            <a:ext cx="10001288" cy="8636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s-ES" b="1" dirty="0" smtClean="0"/>
              <a:t>METODO EMPIRICO - VALUACIÓN TÉCNICA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74675" y="1000108"/>
            <a:ext cx="8569325" cy="493872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Inventariar los bienes materiales e inmateriales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Determinar la edad de los bienes y su estado de mantenimiento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Estimar vida útil (curvas / estadísticas)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s-ES" sz="2800" dirty="0" smtClean="0"/>
              <a:t>Definir curva de depreciación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3357562"/>
            <a:ext cx="9144000" cy="2286016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s-ES" sz="2400" b="1" dirty="0" smtClean="0">
                <a:latin typeface="Tahoma" pitchFamily="34" charset="0"/>
              </a:rPr>
              <a:t>CURVAS DE DEPRECIACION HABITUALES</a:t>
            </a:r>
            <a:endParaRPr lang="es-ES" sz="2400" dirty="0">
              <a:latin typeface="Tahoma" pitchFamily="34" charset="0"/>
            </a:endParaRPr>
          </a:p>
          <a:p>
            <a:pPr eaLnBrk="0" hangingPunct="0"/>
            <a:r>
              <a:rPr lang="es-ES" sz="2400" b="1" dirty="0">
                <a:latin typeface="Tahoma" pitchFamily="34" charset="0"/>
              </a:rPr>
              <a:t>Lineal </a:t>
            </a:r>
            <a:r>
              <a:rPr lang="es-ES" sz="2400" dirty="0">
                <a:latin typeface="Tahoma" pitchFamily="34" charset="0"/>
              </a:rPr>
              <a:t>= EDAD / VIDA </a:t>
            </a:r>
            <a:r>
              <a:rPr lang="es-ES" sz="2400" dirty="0" smtClean="0">
                <a:latin typeface="Tahoma" pitchFamily="34" charset="0"/>
              </a:rPr>
              <a:t>ÚTIL </a:t>
            </a:r>
            <a:r>
              <a:rPr lang="es-ES" sz="1800" dirty="0" smtClean="0">
                <a:latin typeface="Tahoma" pitchFamily="34" charset="0"/>
              </a:rPr>
              <a:t>(recomendada por el TTN para Máquinas)</a:t>
            </a:r>
            <a:endParaRPr lang="es-ES" sz="1800" dirty="0">
              <a:latin typeface="Tahoma" pitchFamily="34" charset="0"/>
            </a:endParaRPr>
          </a:p>
          <a:p>
            <a:pPr eaLnBrk="0" hangingPunct="0"/>
            <a:r>
              <a:rPr lang="es-ES" sz="2400" b="1" dirty="0" smtClean="0">
                <a:latin typeface="Tahoma" pitchFamily="34" charset="0"/>
              </a:rPr>
              <a:t>Ross </a:t>
            </a:r>
            <a:r>
              <a:rPr lang="es-ES" sz="2400" b="1" dirty="0" err="1" smtClean="0">
                <a:latin typeface="Tahoma" pitchFamily="34" charset="0"/>
              </a:rPr>
              <a:t>Heidecke</a:t>
            </a:r>
            <a:r>
              <a:rPr lang="es-ES" sz="2400" b="1" dirty="0" smtClean="0">
                <a:latin typeface="Tahoma" pitchFamily="34" charset="0"/>
              </a:rPr>
              <a:t>= ½ (</a:t>
            </a:r>
            <a:r>
              <a:rPr lang="es-ES" sz="2400" dirty="0" smtClean="0">
                <a:latin typeface="Tahoma" pitchFamily="34" charset="0"/>
              </a:rPr>
              <a:t>(EDAD/VIDA </a:t>
            </a:r>
            <a:r>
              <a:rPr lang="es-ES" sz="2400" dirty="0">
                <a:latin typeface="Tahoma" pitchFamily="34" charset="0"/>
              </a:rPr>
              <a:t>ÚTIL )</a:t>
            </a:r>
            <a:r>
              <a:rPr lang="es-ES" sz="2400" b="1" baseline="30000" dirty="0">
                <a:latin typeface="Tahoma" pitchFamily="34" charset="0"/>
              </a:rPr>
              <a:t>2</a:t>
            </a:r>
            <a:r>
              <a:rPr lang="es-ES" dirty="0"/>
              <a:t>  </a:t>
            </a:r>
            <a:r>
              <a:rPr lang="es-ES" sz="2400" dirty="0" smtClean="0">
                <a:latin typeface="Tahoma" pitchFamily="34" charset="0"/>
              </a:rPr>
              <a:t>+ (EDAD/VIDA ÚTIL)</a:t>
            </a:r>
            <a:r>
              <a:rPr lang="es-ES" sz="2400" b="1" dirty="0" smtClean="0">
                <a:latin typeface="Tahoma" pitchFamily="34" charset="0"/>
              </a:rPr>
              <a:t>)</a:t>
            </a:r>
            <a:endParaRPr lang="es-ES" sz="2400" b="1" dirty="0">
              <a:latin typeface="Tahoma" pitchFamily="34" charset="0"/>
            </a:endParaRPr>
          </a:p>
          <a:p>
            <a:pPr eaLnBrk="0" hangingPunct="0"/>
            <a:r>
              <a:rPr lang="es-ES" sz="1800" dirty="0" smtClean="0">
                <a:latin typeface="Tahoma" pitchFamily="34" charset="0"/>
              </a:rPr>
              <a:t>(recomendada por el TTN para edificios y construcciones)</a:t>
            </a:r>
          </a:p>
          <a:p>
            <a:pPr eaLnBrk="0" hangingPunct="0"/>
            <a:r>
              <a:rPr lang="es-ES" sz="2000" dirty="0" smtClean="0">
                <a:latin typeface="Tahoma" pitchFamily="34" charset="0"/>
              </a:rPr>
              <a:t>Factor </a:t>
            </a:r>
            <a:r>
              <a:rPr lang="es-ES" sz="2000" dirty="0">
                <a:latin typeface="Tahoma" pitchFamily="34" charset="0"/>
              </a:rPr>
              <a:t>de corrección por estado de conservación </a:t>
            </a:r>
            <a:r>
              <a:rPr lang="es-ES" sz="2000" i="1" u="sng" dirty="0">
                <a:latin typeface="Tahoma" pitchFamily="34" charset="0"/>
              </a:rPr>
              <a:t>100-C</a:t>
            </a:r>
          </a:p>
          <a:p>
            <a:pPr eaLnBrk="0" hangingPunct="0"/>
            <a:r>
              <a:rPr lang="es-ES" sz="2000" dirty="0">
                <a:latin typeface="Tahoma" pitchFamily="34" charset="0"/>
              </a:rPr>
              <a:t>		                                 		 100</a:t>
            </a:r>
          </a:p>
        </p:txBody>
      </p:sp>
      <p:pic>
        <p:nvPicPr>
          <p:cNvPr id="5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/>
      <p:bldP spid="5939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b="1" dirty="0" smtClean="0"/>
              <a:t>DEPRECIACIÓN DE ROSS HEIDECKE</a:t>
            </a:r>
            <a:endParaRPr lang="es-AR" b="1" dirty="0"/>
          </a:p>
        </p:txBody>
      </p:sp>
      <p:sp>
        <p:nvSpPr>
          <p:cNvPr id="5" name="4 Rectángulo"/>
          <p:cNvSpPr/>
          <p:nvPr/>
        </p:nvSpPr>
        <p:spPr>
          <a:xfrm>
            <a:off x="357158" y="1571612"/>
            <a:ext cx="8358246" cy="1241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s-ES" b="1" dirty="0" smtClean="0">
                <a:latin typeface="Tahoma" pitchFamily="34" charset="0"/>
              </a:rPr>
              <a:t>Lineal </a:t>
            </a:r>
            <a:r>
              <a:rPr lang="es-ES" dirty="0" smtClean="0">
                <a:latin typeface="Tahoma" pitchFamily="34" charset="0"/>
              </a:rPr>
              <a:t>= EDAD / VIDA ÚTIL</a:t>
            </a:r>
          </a:p>
          <a:p>
            <a:pPr eaLnBrk="0" hangingPunct="0"/>
            <a:endParaRPr lang="es-ES" dirty="0" smtClean="0">
              <a:latin typeface="Tahoma" pitchFamily="34" charset="0"/>
            </a:endParaRPr>
          </a:p>
          <a:p>
            <a:pPr eaLnBrk="0" hangingPunct="0"/>
            <a:r>
              <a:rPr lang="es-ES" b="1" dirty="0" smtClean="0">
                <a:latin typeface="Tahoma" pitchFamily="34" charset="0"/>
              </a:rPr>
              <a:t>Cuadrática/Parabólica</a:t>
            </a:r>
            <a:r>
              <a:rPr lang="es-ES" dirty="0" smtClean="0">
                <a:latin typeface="Tahoma" pitchFamily="34" charset="0"/>
              </a:rPr>
              <a:t>= (EDAD/ VIDA ÚTIL )</a:t>
            </a:r>
            <a:r>
              <a:rPr lang="es-ES" b="1" baseline="30000" dirty="0" smtClean="0">
                <a:latin typeface="Tahoma" pitchFamily="34" charset="0"/>
              </a:rPr>
              <a:t>2 </a:t>
            </a:r>
          </a:p>
          <a:p>
            <a:pPr eaLnBrk="0" hangingPunct="0"/>
            <a:endParaRPr lang="es-ES" b="1" baseline="30000" dirty="0" smtClean="0">
              <a:latin typeface="Tahoma" pitchFamily="34" charset="0"/>
            </a:endParaRPr>
          </a:p>
          <a:p>
            <a:pPr eaLnBrk="0" hangingPunct="0"/>
            <a:r>
              <a:rPr lang="es-ES" b="1" dirty="0" smtClean="0">
                <a:latin typeface="Tahoma" pitchFamily="34" charset="0"/>
              </a:rPr>
              <a:t>Intermedia (lineal – parabólica)= ½ (</a:t>
            </a:r>
            <a:r>
              <a:rPr lang="es-ES" dirty="0" smtClean="0">
                <a:latin typeface="Tahoma" pitchFamily="34" charset="0"/>
              </a:rPr>
              <a:t>(EDAD/ VIDA ÚTIL )</a:t>
            </a:r>
            <a:r>
              <a:rPr lang="es-ES" b="1" baseline="30000" dirty="0" smtClean="0">
                <a:latin typeface="Tahoma" pitchFamily="34" charset="0"/>
              </a:rPr>
              <a:t>2</a:t>
            </a:r>
            <a:r>
              <a:rPr lang="es-ES" dirty="0" smtClean="0"/>
              <a:t>  </a:t>
            </a:r>
            <a:r>
              <a:rPr lang="es-ES" dirty="0" smtClean="0">
                <a:latin typeface="Tahoma" pitchFamily="34" charset="0"/>
              </a:rPr>
              <a:t>+ (EDAD / V. ÚTIL)</a:t>
            </a:r>
            <a:r>
              <a:rPr lang="es-ES" b="1" dirty="0" smtClean="0">
                <a:latin typeface="Tahoma" pitchFamily="34" charset="0"/>
              </a:rPr>
              <a:t>)</a:t>
            </a:r>
            <a:endParaRPr lang="es-ES" b="1" dirty="0">
              <a:latin typeface="Tahoma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00034" y="3071810"/>
            <a:ext cx="81439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s-ES" dirty="0" smtClean="0">
                <a:latin typeface="Tahoma" pitchFamily="34" charset="0"/>
              </a:rPr>
              <a:t>Factor de corrección por estado de conservación                   </a:t>
            </a:r>
            <a:r>
              <a:rPr lang="es-ES" i="1" u="sng" dirty="0" smtClean="0">
                <a:latin typeface="Tahoma" pitchFamily="34" charset="0"/>
              </a:rPr>
              <a:t>100-C</a:t>
            </a:r>
          </a:p>
          <a:p>
            <a:pPr eaLnBrk="0" hangingPunct="0"/>
            <a:r>
              <a:rPr lang="es-ES" dirty="0" smtClean="0">
                <a:latin typeface="Tahoma" pitchFamily="34" charset="0"/>
              </a:rPr>
              <a:t>		                                 		 100</a:t>
            </a:r>
            <a:endParaRPr lang="es-AR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2285984" y="3714752"/>
            <a:ext cx="4879963" cy="2671752"/>
          </a:xfrm>
        </p:spPr>
        <p:txBody>
          <a:bodyPr>
            <a:normAutofit fontScale="775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Nuevo   0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Intermedio 0,32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Regular 2,52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Intermedio 8,09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Reparaciones sencillas 18,10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Intermedio 33,20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Reparaciones importantes 52,60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Intermedio 75,20</a:t>
            </a:r>
          </a:p>
          <a:p>
            <a:pPr>
              <a:buFont typeface="Arial" pitchFamily="34" charset="0"/>
              <a:buChar char="•"/>
            </a:pPr>
            <a:r>
              <a:rPr lang="es-ES_tradnl" sz="2400" dirty="0" smtClean="0"/>
              <a:t>Sin valor 100</a:t>
            </a:r>
          </a:p>
          <a:p>
            <a:endParaRPr lang="es-AR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b="1" dirty="0" smtClean="0"/>
              <a:t>OTRAS CURVAS DE DEPRECIACIÓN</a:t>
            </a:r>
          </a:p>
        </p:txBody>
      </p:sp>
      <p:graphicFrame>
        <p:nvGraphicFramePr>
          <p:cNvPr id="1026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571604" y="1285860"/>
          <a:ext cx="6096000" cy="417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4" imgW="6096528" imgH="4176122" progId="Excel.Chart.8">
                  <p:embed/>
                </p:oleObj>
              </mc:Choice>
              <mc:Fallback>
                <p:oleObj r:id="rId4" imgW="6096528" imgH="4176122" progId="Excel.Chart.8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285860"/>
                        <a:ext cx="6096000" cy="417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56325" y="6210300"/>
            <a:ext cx="345598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defRPr/>
            </a:pPr>
            <a:r>
              <a:rPr kumimoji="1" lang="es-E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METODO EMPIRICO</a:t>
            </a:r>
            <a:br>
              <a:rPr kumimoji="1" lang="es-E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kumimoji="1" lang="es-ES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7143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b="1" dirty="0" smtClean="0">
                <a:solidFill>
                  <a:schemeClr val="tx1"/>
                </a:solidFill>
              </a:rPr>
              <a:t>VALUACIÓN DE UN EDIFICIO, CONSTRUCCIÓN O MEDIANERA</a:t>
            </a:r>
            <a:br>
              <a:rPr lang="es-ES" b="1" dirty="0" smtClean="0">
                <a:solidFill>
                  <a:schemeClr val="tx1"/>
                </a:solidFill>
              </a:rPr>
            </a:br>
            <a:r>
              <a:rPr lang="es-ES" b="1" dirty="0" smtClean="0"/>
              <a:t>(método empírico)</a:t>
            </a:r>
            <a:r>
              <a:rPr lang="es-ES" b="1" dirty="0" smtClean="0">
                <a:solidFill>
                  <a:schemeClr val="tx1"/>
                </a:solidFill>
              </a:rPr>
              <a:t/>
            </a:r>
            <a:br>
              <a:rPr lang="es-ES" b="1" dirty="0" smtClean="0">
                <a:solidFill>
                  <a:schemeClr val="tx1"/>
                </a:solidFill>
              </a:rPr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2071678"/>
            <a:ext cx="9144000" cy="4268799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s-ES" dirty="0" smtClean="0"/>
              <a:t>Valor actual depreciado= V. reposición – Depreciación</a:t>
            </a:r>
          </a:p>
          <a:p>
            <a:pPr>
              <a:lnSpc>
                <a:spcPct val="80000"/>
              </a:lnSpc>
              <a:buNone/>
            </a:pPr>
            <a:endParaRPr lang="es-ES" dirty="0" smtClean="0"/>
          </a:p>
          <a:p>
            <a:pPr>
              <a:lnSpc>
                <a:spcPct val="80000"/>
              </a:lnSpc>
              <a:buNone/>
            </a:pPr>
            <a:r>
              <a:rPr lang="es-ES" dirty="0" smtClean="0"/>
              <a:t>Depreciación = (V. </a:t>
            </a:r>
            <a:r>
              <a:rPr lang="es-ES" dirty="0" err="1" smtClean="0"/>
              <a:t>rep</a:t>
            </a:r>
            <a:r>
              <a:rPr lang="es-ES" dirty="0" smtClean="0"/>
              <a:t>.- V. residual) x k /100</a:t>
            </a:r>
          </a:p>
          <a:p>
            <a:pPr>
              <a:lnSpc>
                <a:spcPct val="80000"/>
              </a:lnSpc>
              <a:buNone/>
            </a:pPr>
            <a:endParaRPr lang="es-AR" dirty="0" smtClean="0"/>
          </a:p>
          <a:p>
            <a:pPr>
              <a:lnSpc>
                <a:spcPct val="80000"/>
              </a:lnSpc>
              <a:buNone/>
            </a:pPr>
            <a:r>
              <a:rPr lang="es-AR" dirty="0" smtClean="0"/>
              <a:t>Valor residual= se estima habitualmente 5% del valor de reposición</a:t>
            </a:r>
          </a:p>
          <a:p>
            <a:pPr>
              <a:lnSpc>
                <a:spcPct val="80000"/>
              </a:lnSpc>
              <a:buNone/>
            </a:pPr>
            <a:endParaRPr lang="es-AR" sz="2000" b="1" dirty="0" smtClean="0"/>
          </a:p>
          <a:p>
            <a:pPr>
              <a:lnSpc>
                <a:spcPct val="80000"/>
              </a:lnSpc>
              <a:buNone/>
            </a:pPr>
            <a:r>
              <a:rPr lang="es-AR" sz="2000" b="1" dirty="0" smtClean="0"/>
              <a:t>K = se obtiene de tablas y contempla tanto la cuota de depreciación como el ajuste por estado de conservación</a:t>
            </a:r>
            <a:endParaRPr lang="es-ES" sz="2000" b="1" dirty="0" smtClean="0"/>
          </a:p>
          <a:p>
            <a:endParaRPr lang="es-A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250825" y="1557338"/>
            <a:ext cx="8534400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s-AR" sz="2800" dirty="0">
                <a:latin typeface="Arial" pitchFamily="34" charset="0"/>
              </a:rPr>
              <a:t>  Valorar económicamente un negocio es proyectar los flujos de caja futuros para determinar la generación de efectivo y dar a conocer al inversionista la recuperación del capital a invertir.</a:t>
            </a:r>
          </a:p>
          <a:p>
            <a:pPr algn="ctr" eaLnBrk="0" hangingPunct="0"/>
            <a:endParaRPr lang="es-AR" sz="2800" dirty="0">
              <a:latin typeface="Arial" pitchFamily="34" charset="0"/>
            </a:endParaRPr>
          </a:p>
          <a:p>
            <a:pPr algn="ctr" eaLnBrk="0" hangingPunct="0"/>
            <a:r>
              <a:rPr kumimoji="1" lang="es-ES_tradnl" sz="2000" dirty="0">
                <a:latin typeface="Arial" pitchFamily="34" charset="0"/>
              </a:rPr>
              <a:t>Para el cálculo del “Valor actual” del flujo de caja, se utiliza la formula del valor presente del interés compuesto considerando un período determinado.</a:t>
            </a:r>
          </a:p>
          <a:p>
            <a:pPr algn="ctr" eaLnBrk="0" hangingPunct="0"/>
            <a:endParaRPr kumimoji="1" lang="es-ES_tradnl" sz="2000" dirty="0">
              <a:latin typeface="Arial" pitchFamily="34" charset="0"/>
            </a:endParaRPr>
          </a:p>
          <a:p>
            <a:pPr algn="ctr" eaLnBrk="0" hangingPunct="0"/>
            <a:r>
              <a:rPr kumimoji="1" lang="es-ES_tradnl" sz="2000" dirty="0">
                <a:latin typeface="Arial" pitchFamily="34" charset="0"/>
              </a:rPr>
              <a:t>Valor actual = VF / (1+i)</a:t>
            </a:r>
            <a:r>
              <a:rPr kumimoji="1" lang="es-ES_tradnl" sz="2000" baseline="30000" dirty="0">
                <a:latin typeface="Arial" pitchFamily="34" charset="0"/>
              </a:rPr>
              <a:t>n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0" y="0"/>
            <a:ext cx="896461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s-ES_tradnl" sz="4000" b="1" dirty="0">
                <a:latin typeface="Arial" pitchFamily="34" charset="0"/>
                <a:cs typeface="+mn-cs"/>
              </a:rPr>
              <a:t>VALUACIÓN DE UNA EMPRESA</a:t>
            </a:r>
          </a:p>
          <a:p>
            <a:pPr algn="ctr" eaLnBrk="0" hangingPunct="0">
              <a:defRPr/>
            </a:pPr>
            <a:r>
              <a:rPr lang="es-ES_tradnl" sz="3200" b="1" dirty="0">
                <a:latin typeface="Arial" pitchFamily="34" charset="0"/>
                <a:cs typeface="+mn-cs"/>
              </a:rPr>
              <a:t>(método analítico)</a:t>
            </a:r>
          </a:p>
        </p:txBody>
      </p:sp>
      <p:pic>
        <p:nvPicPr>
          <p:cNvPr id="16388" name="Picture 8" descr="MCBS00561_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768" y="4500570"/>
            <a:ext cx="1692627" cy="1243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Text Box 7"/>
          <p:cNvSpPr txBox="1">
            <a:spLocks noChangeArrowheads="1"/>
          </p:cNvSpPr>
          <p:nvPr/>
        </p:nvSpPr>
        <p:spPr bwMode="auto">
          <a:xfrm>
            <a:off x="4143372" y="5929330"/>
            <a:ext cx="46085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AR" dirty="0">
                <a:latin typeface="Arial" pitchFamily="34" charset="0"/>
              </a:rPr>
              <a:t>Gran </a:t>
            </a:r>
            <a:r>
              <a:rPr lang="es-AR" dirty="0" smtClean="0">
                <a:latin typeface="Arial" pitchFamily="34" charset="0"/>
              </a:rPr>
              <a:t>dificultad para determinar </a:t>
            </a:r>
            <a:r>
              <a:rPr lang="es-AR" dirty="0">
                <a:latin typeface="Arial" pitchFamily="34" charset="0"/>
              </a:rPr>
              <a:t>la tasa de interés que contemple el riesgo del negocio. </a:t>
            </a:r>
          </a:p>
        </p:txBody>
      </p:sp>
      <p:pic>
        <p:nvPicPr>
          <p:cNvPr id="6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71472" y="428604"/>
            <a:ext cx="7858180" cy="5653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/>
            <a:r>
              <a:rPr lang="es-ES_tradnl" sz="1800" b="1" dirty="0">
                <a:latin typeface="Arial" pitchFamily="34" charset="0"/>
              </a:rPr>
              <a:t>VALOR SUSTANCIAL DE UNA </a:t>
            </a:r>
            <a:r>
              <a:rPr lang="es-ES_tradnl" sz="1800" b="1" dirty="0" smtClean="0">
                <a:latin typeface="Arial" pitchFamily="34" charset="0"/>
              </a:rPr>
              <a:t>EMPRESA</a:t>
            </a:r>
          </a:p>
          <a:p>
            <a:pPr algn="just" eaLnBrk="0" hangingPunct="0"/>
            <a:endParaRPr lang="es-ES_tradnl" sz="1400" b="1" dirty="0">
              <a:latin typeface="Arial" pitchFamily="34" charset="0"/>
            </a:endParaRPr>
          </a:p>
          <a:p>
            <a:pPr lvl="0" algn="just" eaLnBrk="0" hangingPunct="0"/>
            <a:r>
              <a:rPr kumimoji="0" lang="es-ES_tradnl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</a:rPr>
              <a:t>El valor</a:t>
            </a:r>
            <a:r>
              <a:rPr kumimoji="0" lang="es-ES_tradnl" sz="18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</a:rPr>
              <a:t> sustancial es</a:t>
            </a:r>
            <a:r>
              <a:rPr kumimoji="0" lang="es-ES_tradnl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</a:rPr>
              <a:t> la inversión  que debería efectuarse para construir una empresa en idénticas condiciones. Es </a:t>
            </a:r>
            <a:r>
              <a:rPr lang="es-AR" sz="1800" dirty="0" smtClean="0">
                <a:latin typeface="Arial" pitchFamily="34" charset="0"/>
              </a:rPr>
              <a:t>diferencia entre el activo real de la empresa y su pasivo exigible, aplicando criterios de valoración de precios de mercado. </a:t>
            </a:r>
            <a:endParaRPr kumimoji="0" lang="es-ES_tradnl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_tradnl" sz="1800" dirty="0">
              <a:solidFill>
                <a:srgbClr val="000000"/>
              </a:solidFill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</a:rPr>
              <a:t>FONDO DE COMERCIO O “GOODWILL”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_tradnl" sz="1800" dirty="0">
              <a:solidFill>
                <a:srgbClr val="000000"/>
              </a:solidFill>
              <a:latin typeface="Arial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s-AR" sz="1800" dirty="0" smtClean="0">
                <a:latin typeface="Arial" pitchFamily="34" charset="0"/>
              </a:rPr>
              <a:t>El fondo de comercio o “</a:t>
            </a:r>
            <a:r>
              <a:rPr lang="es-AR" sz="1800" dirty="0" err="1" smtClean="0">
                <a:latin typeface="Arial" pitchFamily="34" charset="0"/>
              </a:rPr>
              <a:t>good</a:t>
            </a:r>
            <a:r>
              <a:rPr lang="es-AR" sz="1800" dirty="0" smtClean="0">
                <a:latin typeface="Arial" pitchFamily="34" charset="0"/>
              </a:rPr>
              <a:t> </a:t>
            </a:r>
            <a:r>
              <a:rPr lang="es-AR" sz="1800" dirty="0" err="1" smtClean="0">
                <a:latin typeface="Arial" pitchFamily="34" charset="0"/>
              </a:rPr>
              <a:t>will</a:t>
            </a:r>
            <a:r>
              <a:rPr lang="es-AR" sz="1800" dirty="0" smtClean="0">
                <a:latin typeface="Arial" pitchFamily="34" charset="0"/>
              </a:rPr>
              <a:t>” es el valor de los elementos inmateriales de la empresa, que (en general) no aparece reflejado en el balance, pero que le proporcionan ventajas competitivas</a:t>
            </a:r>
          </a:p>
          <a:p>
            <a:pPr algn="just">
              <a:lnSpc>
                <a:spcPct val="90000"/>
              </a:lnSpc>
              <a:buFont typeface="Arial" pitchFamily="34" charset="0"/>
              <a:buChar char="•"/>
            </a:pPr>
            <a:endParaRPr lang="es-AR" sz="1800" dirty="0" smtClean="0">
              <a:latin typeface="Arial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s-ES_tradnl" sz="1800" dirty="0" smtClean="0">
                <a:latin typeface="Arial" pitchFamily="34" charset="0"/>
              </a:rPr>
              <a:t>El método habitual para valuar el fondo de comercio o “</a:t>
            </a:r>
            <a:r>
              <a:rPr lang="es-ES_tradnl" sz="1800" dirty="0" err="1" smtClean="0">
                <a:latin typeface="Arial" pitchFamily="34" charset="0"/>
              </a:rPr>
              <a:t>good</a:t>
            </a:r>
            <a:r>
              <a:rPr lang="es-ES_tradnl" sz="1800" dirty="0" smtClean="0">
                <a:latin typeface="Arial" pitchFamily="34" charset="0"/>
              </a:rPr>
              <a:t> </a:t>
            </a:r>
            <a:r>
              <a:rPr lang="es-ES_tradnl" sz="1800" dirty="0" err="1" smtClean="0">
                <a:latin typeface="Arial" pitchFamily="34" charset="0"/>
              </a:rPr>
              <a:t>will</a:t>
            </a:r>
            <a:r>
              <a:rPr lang="es-ES_tradnl" sz="1800" dirty="0" smtClean="0">
                <a:latin typeface="Arial" pitchFamily="34" charset="0"/>
              </a:rPr>
              <a:t>” consiste en calcular el “valor actual del flujo de caja” (valor de empresa en marcha) y restar el valor sustancial.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_tradnl" sz="1800" dirty="0">
              <a:solidFill>
                <a:srgbClr val="000000"/>
              </a:solidFill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_tradnl" sz="1800" dirty="0">
              <a:solidFill>
                <a:srgbClr val="000000"/>
              </a:solidFill>
              <a:latin typeface="Arial" pitchFamily="34" charset="0"/>
            </a:endParaRPr>
          </a:p>
        </p:txBody>
      </p:sp>
      <p:pic>
        <p:nvPicPr>
          <p:cNvPr id="6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  <p:sp>
        <p:nvSpPr>
          <p:cNvPr id="7" name="AutoShape 6"/>
          <p:cNvSpPr>
            <a:spLocks noChangeArrowheads="1"/>
          </p:cNvSpPr>
          <p:nvPr/>
        </p:nvSpPr>
        <p:spPr bwMode="auto">
          <a:xfrm rot="10800000">
            <a:off x="5000628" y="2000240"/>
            <a:ext cx="2312980" cy="952486"/>
          </a:xfrm>
          <a:prstGeom prst="wedgeEllipseCallout">
            <a:avLst>
              <a:gd name="adj1" fmla="val 121545"/>
              <a:gd name="adj2" fmla="val 59892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 eaLnBrk="0" hangingPunct="0"/>
            <a:r>
              <a:rPr lang="es-ES" sz="1200" b="1" dirty="0">
                <a:latin typeface="Tahoma" pitchFamily="34" charset="0"/>
              </a:rPr>
              <a:t>Todas aquellas deudas que la empresa ha contraído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 eaLnBrk="1" hangingPunct="1"/>
            <a:r>
              <a:rPr lang="es-AR" sz="3600" b="1" smtClean="0"/>
              <a:t>VALUACIONES TECNICAS</a:t>
            </a:r>
            <a:r>
              <a:rPr lang="es-AR" b="1" smtClean="0"/>
              <a:t/>
            </a:r>
            <a:br>
              <a:rPr lang="es-AR" b="1" smtClean="0"/>
            </a:br>
            <a:r>
              <a:rPr lang="es-AR" sz="2800" smtClean="0"/>
              <a:t>Ejemplo de Valoración</a:t>
            </a:r>
            <a:endParaRPr lang="es-AR" smtClean="0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81000" y="1500174"/>
            <a:ext cx="8763000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65000"/>
              </a:lnSpc>
              <a:spcBef>
                <a:spcPct val="50000"/>
              </a:spcBef>
            </a:pPr>
            <a:r>
              <a:rPr lang="es-AR" sz="2000" i="1" dirty="0"/>
              <a:t>1) Terreno:</a:t>
            </a:r>
            <a:r>
              <a:rPr lang="es-AR" sz="2000" dirty="0"/>
              <a:t>     </a:t>
            </a:r>
            <a:r>
              <a:rPr lang="es-AR" sz="2000" dirty="0" smtClean="0"/>
              <a:t>	Ubicación</a:t>
            </a:r>
            <a:r>
              <a:rPr lang="es-AR" sz="2000" dirty="0"/>
              <a:t>: Florida </a:t>
            </a:r>
            <a:r>
              <a:rPr lang="es-AR" sz="2000" dirty="0" smtClean="0"/>
              <a:t>- </a:t>
            </a:r>
            <a:r>
              <a:rPr lang="es-AR" sz="2000" dirty="0" err="1"/>
              <a:t>Pcia</a:t>
            </a:r>
            <a:r>
              <a:rPr lang="es-AR" sz="2000" dirty="0"/>
              <a:t> de </a:t>
            </a:r>
            <a:r>
              <a:rPr lang="es-AR" sz="2000" dirty="0" err="1" smtClean="0"/>
              <a:t>Bs.As</a:t>
            </a:r>
            <a:r>
              <a:rPr lang="es-AR" sz="2000" dirty="0" smtClean="0"/>
              <a:t>.  Dimensiones</a:t>
            </a:r>
            <a:r>
              <a:rPr lang="es-AR" sz="2000" dirty="0"/>
              <a:t>: </a:t>
            </a:r>
            <a:r>
              <a:rPr lang="es-AR" sz="2000" b="1" dirty="0"/>
              <a:t>2000 m2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endParaRPr lang="es-AR" sz="2000" b="1" dirty="0"/>
          </a:p>
          <a:p>
            <a:pPr marL="285750" indent="-285750" eaLnBrk="0" hangingPunct="0">
              <a:lnSpc>
                <a:spcPct val="65000"/>
              </a:lnSpc>
              <a:spcBef>
                <a:spcPct val="50000"/>
              </a:spcBef>
            </a:pPr>
            <a:r>
              <a:rPr lang="es-AR" sz="2000" i="1" dirty="0"/>
              <a:t>2) Edificio:</a:t>
            </a:r>
            <a:r>
              <a:rPr lang="es-AR" sz="2000" dirty="0"/>
              <a:t>     </a:t>
            </a:r>
            <a:r>
              <a:rPr lang="es-AR" sz="2000" dirty="0" smtClean="0"/>
              <a:t>	Dos </a:t>
            </a:r>
            <a:r>
              <a:rPr lang="es-AR" sz="2000" dirty="0"/>
              <a:t>plantas - Losa </a:t>
            </a:r>
            <a:r>
              <a:rPr lang="es-AR" sz="2000" b="1" dirty="0"/>
              <a:t>1000m</a:t>
            </a:r>
            <a:r>
              <a:rPr lang="es-AR" sz="2000" b="1" baseline="30000" dirty="0"/>
              <a:t>2</a:t>
            </a:r>
            <a:r>
              <a:rPr lang="es-AR" sz="2000" b="1" dirty="0"/>
              <a:t> cubiertos.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dirty="0"/>
              <a:t>Planta Baja</a:t>
            </a:r>
            <a:r>
              <a:rPr lang="es-AR" sz="2000" b="1" dirty="0"/>
              <a:t>: 500 m</a:t>
            </a:r>
            <a:r>
              <a:rPr lang="es-AR" sz="2000" b="1" baseline="30000" dirty="0"/>
              <a:t>2</a:t>
            </a:r>
            <a:r>
              <a:rPr lang="es-AR" sz="2000" baseline="30000" dirty="0"/>
              <a:t>  </a:t>
            </a:r>
            <a:r>
              <a:rPr lang="es-AR" sz="2000" dirty="0"/>
              <a:t>Sector Productivo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dirty="0"/>
              <a:t>Planta Alta:  Depósito </a:t>
            </a:r>
            <a:r>
              <a:rPr lang="es-AR" sz="2000" dirty="0" err="1"/>
              <a:t>Mat.Primas</a:t>
            </a:r>
            <a:r>
              <a:rPr lang="es-AR" sz="2000" dirty="0"/>
              <a:t>  </a:t>
            </a:r>
            <a:r>
              <a:rPr lang="es-AR" sz="2000" b="1" dirty="0"/>
              <a:t>300</a:t>
            </a:r>
            <a:r>
              <a:rPr lang="es-AR" sz="2000" dirty="0"/>
              <a:t> m</a:t>
            </a:r>
            <a:r>
              <a:rPr lang="es-AR" sz="2000" baseline="30000" dirty="0"/>
              <a:t>2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baseline="30000" dirty="0"/>
              <a:t>                               </a:t>
            </a:r>
            <a:r>
              <a:rPr lang="es-AR" sz="2000" dirty="0"/>
              <a:t>Oficinas - Vestuarios - Cocina  </a:t>
            </a:r>
            <a:r>
              <a:rPr lang="es-AR" sz="2000" b="1" dirty="0"/>
              <a:t>200</a:t>
            </a:r>
            <a:r>
              <a:rPr lang="es-AR" sz="2000" dirty="0"/>
              <a:t> m</a:t>
            </a:r>
            <a:r>
              <a:rPr lang="es-AR" sz="2000" baseline="30000" dirty="0"/>
              <a:t>2 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dirty="0"/>
              <a:t>Terraza: 40m</a:t>
            </a:r>
            <a:r>
              <a:rPr lang="es-AR" sz="2000" baseline="30000" dirty="0"/>
              <a:t>2 </a:t>
            </a:r>
            <a:r>
              <a:rPr lang="es-AR" sz="2000" dirty="0"/>
              <a:t>sin uso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endParaRPr lang="es-AR" sz="2000" dirty="0"/>
          </a:p>
          <a:p>
            <a:pPr marL="285750" indent="-285750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i="1" dirty="0"/>
              <a:t>3) Equipos:</a:t>
            </a:r>
            <a:r>
              <a:rPr lang="es-AR" sz="2000" dirty="0"/>
              <a:t>     	Reactor Tipo A - Cantidad:2 - Capacidad: 1200 </a:t>
            </a:r>
            <a:r>
              <a:rPr lang="es-AR" sz="2000" dirty="0" err="1"/>
              <a:t>lts</a:t>
            </a:r>
            <a:r>
              <a:rPr lang="es-AR" sz="2000" dirty="0"/>
              <a:t>.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dirty="0"/>
              <a:t>Reactor Tipo B - Cantidad:1 - Capacidad: 2000 </a:t>
            </a:r>
            <a:r>
              <a:rPr lang="es-AR" sz="2000" dirty="0" err="1"/>
              <a:t>lts</a:t>
            </a:r>
            <a:r>
              <a:rPr lang="es-AR" sz="2000" dirty="0"/>
              <a:t>.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000" dirty="0"/>
              <a:t>Acero </a:t>
            </a:r>
            <a:r>
              <a:rPr lang="es-AR" sz="2000" dirty="0" smtClean="0"/>
              <a:t>Inoxidable - Camisa </a:t>
            </a:r>
            <a:r>
              <a:rPr lang="es-AR" sz="2000" dirty="0"/>
              <a:t>acero alimentada por agua servicio105ºC</a:t>
            </a:r>
          </a:p>
          <a:p>
            <a:pPr lvl="4" eaLnBrk="0" hangingPunct="0">
              <a:lnSpc>
                <a:spcPct val="65000"/>
              </a:lnSpc>
              <a:spcBef>
                <a:spcPct val="35000"/>
              </a:spcBef>
            </a:pPr>
            <a:r>
              <a:rPr lang="es-AR" sz="2000" dirty="0"/>
              <a:t>Bomba de retorno agua camisa-usina, </a:t>
            </a:r>
            <a:r>
              <a:rPr lang="es-AR" sz="2000" dirty="0" err="1"/>
              <a:t>motoreductor</a:t>
            </a:r>
            <a:r>
              <a:rPr lang="es-AR" sz="2000" dirty="0"/>
              <a:t> y motor </a:t>
            </a:r>
            <a:r>
              <a:rPr lang="es-AR" sz="2000" dirty="0" smtClean="0"/>
              <a:t>elevación Tapa-Agitador </a:t>
            </a:r>
            <a:endParaRPr lang="es-AR" sz="2000" dirty="0"/>
          </a:p>
          <a:p>
            <a:pPr lvl="4" eaLnBrk="0" hangingPunct="0">
              <a:lnSpc>
                <a:spcPct val="65000"/>
              </a:lnSpc>
              <a:spcBef>
                <a:spcPct val="35000"/>
              </a:spcBef>
            </a:pPr>
            <a:endParaRPr lang="es-AR" sz="2000" dirty="0"/>
          </a:p>
          <a:p>
            <a:pPr lvl="4" eaLnBrk="0" hangingPunct="0">
              <a:lnSpc>
                <a:spcPct val="65000"/>
              </a:lnSpc>
              <a:spcBef>
                <a:spcPct val="35000"/>
              </a:spcBef>
            </a:pPr>
            <a:endParaRPr lang="es-AR" sz="2000" dirty="0"/>
          </a:p>
          <a:p>
            <a:pPr lvl="4" eaLnBrk="0" hangingPunct="0">
              <a:lnSpc>
                <a:spcPct val="65000"/>
              </a:lnSpc>
              <a:spcBef>
                <a:spcPct val="35000"/>
              </a:spcBef>
            </a:pPr>
            <a:endParaRPr lang="es-AR" sz="2000" dirty="0"/>
          </a:p>
        </p:txBody>
      </p:sp>
      <p:pic>
        <p:nvPicPr>
          <p:cNvPr id="4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 eaLnBrk="1" hangingPunct="1"/>
            <a:r>
              <a:rPr lang="es-AR" sz="3600" b="1" smtClean="0"/>
              <a:t>VALUACIONES TECNICAS</a:t>
            </a:r>
            <a:r>
              <a:rPr lang="es-AR" b="1" smtClean="0"/>
              <a:t/>
            </a:r>
            <a:br>
              <a:rPr lang="es-AR" b="1" smtClean="0"/>
            </a:br>
            <a:r>
              <a:rPr lang="es-AR" sz="2800" smtClean="0"/>
              <a:t>Ejemplo de Valoración</a:t>
            </a:r>
            <a:endParaRPr lang="es-AR" smtClean="0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81000" y="1600200"/>
            <a:ext cx="8610600" cy="3987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 eaLnBrk="0" hangingPunct="0">
              <a:spcBef>
                <a:spcPct val="50000"/>
              </a:spcBef>
            </a:pPr>
            <a:r>
              <a:rPr lang="es-AR" sz="2400" b="1" dirty="0">
                <a:latin typeface="Arial" pitchFamily="34" charset="0"/>
              </a:rPr>
              <a:t>1) Terreno:</a:t>
            </a:r>
            <a:r>
              <a:rPr lang="es-AR" sz="2400" dirty="0">
                <a:latin typeface="Arial" pitchFamily="34" charset="0"/>
              </a:rPr>
              <a:t>   </a:t>
            </a:r>
            <a:r>
              <a:rPr lang="es-AR" sz="2200" dirty="0" smtClean="0">
                <a:latin typeface="Arial" pitchFamily="34" charset="0"/>
              </a:rPr>
              <a:t>Valor </a:t>
            </a:r>
            <a:r>
              <a:rPr lang="es-AR" sz="2200" dirty="0">
                <a:latin typeface="Arial" pitchFamily="34" charset="0"/>
              </a:rPr>
              <a:t>Terreno= </a:t>
            </a:r>
            <a:r>
              <a:rPr lang="es-AR" sz="2200" dirty="0" err="1">
                <a:latin typeface="Arial" pitchFamily="34" charset="0"/>
              </a:rPr>
              <a:t>Sup</a:t>
            </a:r>
            <a:r>
              <a:rPr lang="es-AR" sz="2200" dirty="0">
                <a:latin typeface="Arial" pitchFamily="34" charset="0"/>
              </a:rPr>
              <a:t> x Valor unitario x </a:t>
            </a:r>
            <a:r>
              <a:rPr lang="es-AR" sz="2200" dirty="0" err="1">
                <a:latin typeface="Arial" pitchFamily="34" charset="0"/>
              </a:rPr>
              <a:t>Coef</a:t>
            </a:r>
            <a:r>
              <a:rPr lang="es-AR" sz="2200" dirty="0">
                <a:latin typeface="Arial" pitchFamily="34" charset="0"/>
              </a:rPr>
              <a:t>. ajuste</a:t>
            </a:r>
          </a:p>
          <a:p>
            <a:pPr lvl="4" eaLnBrk="0" hangingPunct="0">
              <a:lnSpc>
                <a:spcPct val="65000"/>
              </a:lnSpc>
              <a:spcBef>
                <a:spcPct val="50000"/>
              </a:spcBef>
            </a:pPr>
            <a:r>
              <a:rPr lang="es-AR" sz="2200" dirty="0">
                <a:latin typeface="Arial" pitchFamily="34" charset="0"/>
              </a:rPr>
              <a:t>Valor Terreno= 2.000 m</a:t>
            </a:r>
            <a:r>
              <a:rPr lang="es-AR" sz="2200" baseline="30000" dirty="0">
                <a:latin typeface="Arial" pitchFamily="34" charset="0"/>
              </a:rPr>
              <a:t>2 </a:t>
            </a:r>
            <a:r>
              <a:rPr lang="es-AR" sz="2200" dirty="0">
                <a:latin typeface="Arial" pitchFamily="34" charset="0"/>
              </a:rPr>
              <a:t>x 300 $/m</a:t>
            </a:r>
            <a:r>
              <a:rPr lang="es-AR" sz="2200" baseline="30000" dirty="0">
                <a:latin typeface="Arial" pitchFamily="34" charset="0"/>
              </a:rPr>
              <a:t>2   </a:t>
            </a:r>
            <a:r>
              <a:rPr lang="es-AR" sz="2200" dirty="0">
                <a:latin typeface="Arial" pitchFamily="34" charset="0"/>
              </a:rPr>
              <a:t>x 1</a:t>
            </a:r>
            <a:r>
              <a:rPr lang="es-AR" sz="2200" baseline="30000" dirty="0">
                <a:latin typeface="Arial" pitchFamily="34" charset="0"/>
              </a:rPr>
              <a:t> </a:t>
            </a:r>
            <a:r>
              <a:rPr lang="es-AR" sz="2400" dirty="0">
                <a:solidFill>
                  <a:srgbClr val="000000"/>
                </a:solidFill>
                <a:latin typeface="Arial" pitchFamily="34" charset="0"/>
              </a:rPr>
              <a:t>	</a:t>
            </a:r>
          </a:p>
          <a:p>
            <a:pPr lvl="4" eaLnBrk="0" hangingPunct="0"/>
            <a:r>
              <a:rPr lang="es-AR" sz="2200" b="1" dirty="0">
                <a:latin typeface="Arial" pitchFamily="34" charset="0"/>
              </a:rPr>
              <a:t>Valor Terreno </a:t>
            </a:r>
            <a:r>
              <a:rPr lang="es-AR" sz="2200" dirty="0">
                <a:latin typeface="Arial" pitchFamily="34" charset="0"/>
              </a:rPr>
              <a:t>=</a:t>
            </a:r>
            <a:r>
              <a:rPr lang="es-AR" sz="2400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s-AR" sz="2200" b="1" dirty="0">
                <a:latin typeface="Arial" pitchFamily="34" charset="0"/>
              </a:rPr>
              <a:t>$ 600.000.- </a:t>
            </a:r>
          </a:p>
          <a:p>
            <a:pPr marL="285750" indent="-285750" eaLnBrk="0" hangingPunct="0"/>
            <a:r>
              <a:rPr lang="es-AR" sz="2400" b="1" dirty="0">
                <a:latin typeface="Arial" pitchFamily="34" charset="0"/>
              </a:rPr>
              <a:t>2) Edificio</a:t>
            </a:r>
            <a:r>
              <a:rPr lang="es-AR" sz="2400" dirty="0">
                <a:latin typeface="Arial" pitchFamily="34" charset="0"/>
              </a:rPr>
              <a:t>:   </a:t>
            </a:r>
            <a:r>
              <a:rPr lang="es-AR" sz="2400" dirty="0" smtClean="0">
                <a:latin typeface="Arial" pitchFamily="34" charset="0"/>
              </a:rPr>
              <a:t> </a:t>
            </a:r>
            <a:r>
              <a:rPr lang="es-AR" sz="2200" dirty="0" smtClean="0">
                <a:latin typeface="Arial" pitchFamily="34" charset="0"/>
              </a:rPr>
              <a:t>Superficie </a:t>
            </a:r>
            <a:r>
              <a:rPr lang="es-AR" sz="2200" dirty="0">
                <a:latin typeface="Arial" pitchFamily="34" charset="0"/>
              </a:rPr>
              <a:t>Cubierta = 1000m</a:t>
            </a:r>
            <a:r>
              <a:rPr lang="es-AR" sz="2200" baseline="30000" dirty="0">
                <a:latin typeface="Arial" pitchFamily="34" charset="0"/>
              </a:rPr>
              <a:t>2</a:t>
            </a:r>
            <a:r>
              <a:rPr lang="es-AR" sz="2200" dirty="0">
                <a:latin typeface="Arial" pitchFamily="34" charset="0"/>
              </a:rPr>
              <a:t>.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Calidad Construcción: Standard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Vida </a:t>
            </a:r>
            <a:r>
              <a:rPr lang="es-AR" sz="2200" dirty="0" err="1">
                <a:latin typeface="Arial" pitchFamily="34" charset="0"/>
              </a:rPr>
              <a:t>Util</a:t>
            </a:r>
            <a:r>
              <a:rPr lang="es-AR" sz="2200" dirty="0">
                <a:latin typeface="Arial" pitchFamily="34" charset="0"/>
              </a:rPr>
              <a:t>: 60 años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Antigüedad: 42 años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Estado Conservación: Tipo 3 (Reparaciones Sencillas)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Valor Reposición Unitario: 1.000 $/ m</a:t>
            </a:r>
            <a:r>
              <a:rPr lang="es-AR" sz="2200" baseline="30000" dirty="0">
                <a:latin typeface="Arial" pitchFamily="34" charset="0"/>
              </a:rPr>
              <a:t>2  </a:t>
            </a:r>
            <a:r>
              <a:rPr lang="es-AR" sz="2200" dirty="0">
                <a:latin typeface="Arial" pitchFamily="34" charset="0"/>
              </a:rPr>
              <a:t>(obra)</a:t>
            </a:r>
          </a:p>
          <a:p>
            <a:pPr lvl="4" eaLnBrk="0" hangingPunct="0">
              <a:lnSpc>
                <a:spcPct val="65000"/>
              </a:lnSpc>
              <a:spcBef>
                <a:spcPct val="40000"/>
              </a:spcBef>
            </a:pPr>
            <a:r>
              <a:rPr lang="es-AR" sz="2200" dirty="0">
                <a:latin typeface="Arial" pitchFamily="34" charset="0"/>
              </a:rPr>
              <a:t>Valor residual= 5%       Valor Residual= 50 $/ m</a:t>
            </a:r>
            <a:r>
              <a:rPr lang="es-AR" sz="2200" baseline="30000" dirty="0">
                <a:latin typeface="Arial" pitchFamily="34" charset="0"/>
              </a:rPr>
              <a:t>2</a:t>
            </a: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4800600" y="3505200"/>
            <a:ext cx="2667000" cy="685800"/>
            <a:chOff x="3168" y="2640"/>
            <a:chExt cx="1728" cy="432"/>
          </a:xfrm>
        </p:grpSpPr>
        <p:sp>
          <p:nvSpPr>
            <p:cNvPr id="21510" name="Text Box 5"/>
            <p:cNvSpPr txBox="1">
              <a:spLocks noChangeArrowheads="1"/>
            </p:cNvSpPr>
            <p:nvPr/>
          </p:nvSpPr>
          <p:spPr bwMode="auto">
            <a:xfrm>
              <a:off x="3456" y="2736"/>
              <a:ext cx="14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AR" sz="2400"/>
                <a:t>a/u=42/60=0.7</a:t>
              </a:r>
            </a:p>
          </p:txBody>
        </p:sp>
        <p:sp>
          <p:nvSpPr>
            <p:cNvPr id="21511" name="AutoShape 6"/>
            <p:cNvSpPr>
              <a:spLocks/>
            </p:cNvSpPr>
            <p:nvPr/>
          </p:nvSpPr>
          <p:spPr bwMode="auto">
            <a:xfrm>
              <a:off x="3168" y="2640"/>
              <a:ext cx="144" cy="432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s-AR"/>
            </a:p>
          </p:txBody>
        </p:sp>
      </p:grpSp>
      <p:pic>
        <p:nvPicPr>
          <p:cNvPr id="21509" name="Picture 5" descr="j020546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357562"/>
            <a:ext cx="181927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 eaLnBrk="1" hangingPunct="1"/>
            <a:r>
              <a:rPr lang="es-AR" sz="3600" b="1" dirty="0" smtClean="0"/>
              <a:t>VALUACIONES TECNICAS</a:t>
            </a:r>
            <a:r>
              <a:rPr lang="es-AR" b="1" dirty="0" smtClean="0"/>
              <a:t/>
            </a:r>
            <a:br>
              <a:rPr lang="es-AR" b="1" dirty="0" smtClean="0"/>
            </a:br>
            <a:r>
              <a:rPr lang="es-AR" sz="2800" dirty="0" smtClean="0"/>
              <a:t>Ejemplo  de Valoración de edificio</a:t>
            </a:r>
            <a:endParaRPr lang="es-AR" dirty="0" smtClean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143240" y="5357826"/>
            <a:ext cx="5679888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Aft>
                <a:spcPct val="25000"/>
              </a:spcAft>
            </a:pPr>
            <a:r>
              <a:rPr lang="es-AR" dirty="0"/>
              <a:t>de </a:t>
            </a:r>
            <a:r>
              <a:rPr lang="es-AR" dirty="0" smtClean="0"/>
              <a:t>tabla obtengo el Coef.de </a:t>
            </a:r>
            <a:r>
              <a:rPr lang="es-AR" dirty="0"/>
              <a:t>Depreciación de </a:t>
            </a:r>
            <a:r>
              <a:rPr lang="es-AR" dirty="0" err="1"/>
              <a:t>Heidecke</a:t>
            </a:r>
            <a:r>
              <a:rPr lang="es-AR" dirty="0"/>
              <a:t> k= 66.83%</a:t>
            </a:r>
          </a:p>
          <a:p>
            <a:pPr eaLnBrk="0" hangingPunct="0">
              <a:spcAft>
                <a:spcPct val="25000"/>
              </a:spcAft>
            </a:pPr>
            <a:r>
              <a:rPr lang="es-AR" dirty="0"/>
              <a:t>Depreciación=(</a:t>
            </a:r>
            <a:r>
              <a:rPr lang="es-AR" dirty="0" err="1"/>
              <a:t>Vr-Vres</a:t>
            </a:r>
            <a:r>
              <a:rPr lang="es-AR" dirty="0"/>
              <a:t>) x k/100=(1.000-50) 0.6683 = 634.90 $/m</a:t>
            </a:r>
            <a:r>
              <a:rPr lang="es-AR" baseline="30000" dirty="0"/>
              <a:t>2</a:t>
            </a:r>
            <a:endParaRPr lang="es-AR" dirty="0"/>
          </a:p>
          <a:p>
            <a:pPr eaLnBrk="0" hangingPunct="0">
              <a:spcAft>
                <a:spcPct val="25000"/>
              </a:spcAft>
            </a:pPr>
            <a:r>
              <a:rPr lang="es-AR" dirty="0"/>
              <a:t>Valor Actual= (V.rep. - Depreciación).</a:t>
            </a:r>
            <a:r>
              <a:rPr lang="es-AR" dirty="0" err="1"/>
              <a:t>Sup</a:t>
            </a:r>
            <a:r>
              <a:rPr lang="es-AR" dirty="0"/>
              <a:t>= (1.000-634.90).800m2</a:t>
            </a:r>
          </a:p>
          <a:p>
            <a:pPr eaLnBrk="0" hangingPunct="0">
              <a:spcAft>
                <a:spcPct val="25000"/>
              </a:spcAft>
            </a:pPr>
            <a:r>
              <a:rPr lang="es-AR" b="1" dirty="0"/>
              <a:t>Valor Actual= $292.080.-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1844675"/>
            <a:ext cx="78486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4213" y="1341438"/>
            <a:ext cx="17556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s-AR" sz="2400" b="1" dirty="0">
                <a:latin typeface="Arial" pitchFamily="34" charset="0"/>
              </a:rPr>
              <a:t>2) Edificio</a:t>
            </a:r>
            <a:r>
              <a:rPr lang="es-AR" sz="2400" i="1" dirty="0"/>
              <a:t>:</a:t>
            </a:r>
          </a:p>
        </p:txBody>
      </p:sp>
      <p:pic>
        <p:nvPicPr>
          <p:cNvPr id="6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 eaLnBrk="1" hangingPunct="1"/>
            <a:r>
              <a:rPr lang="es-AR" sz="3600" b="1" smtClean="0"/>
              <a:t>VALUACIONES TECNICAS</a:t>
            </a:r>
            <a:r>
              <a:rPr lang="es-AR" b="1" smtClean="0"/>
              <a:t/>
            </a:r>
            <a:br>
              <a:rPr lang="es-AR" b="1" smtClean="0"/>
            </a:br>
            <a:r>
              <a:rPr lang="es-AR" sz="2800" smtClean="0"/>
              <a:t>Ejemplo de Valoración de máquinas</a:t>
            </a:r>
            <a:endParaRPr lang="es-AR" smtClean="0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762000" y="1828800"/>
            <a:ext cx="68818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s-AR" sz="2400" b="1" dirty="0">
                <a:latin typeface="Arial" pitchFamily="34" charset="0"/>
              </a:rPr>
              <a:t>3) </a:t>
            </a:r>
            <a:r>
              <a:rPr lang="es-AR" sz="2400" b="1" dirty="0" smtClean="0">
                <a:latin typeface="Arial" pitchFamily="34" charset="0"/>
              </a:rPr>
              <a:t>Equipos (depreciación lineal)</a:t>
            </a:r>
            <a:r>
              <a:rPr lang="es-AR" sz="2400" dirty="0" smtClean="0">
                <a:latin typeface="Arial" pitchFamily="34" charset="0"/>
              </a:rPr>
              <a:t>:</a:t>
            </a:r>
            <a:endParaRPr lang="es-AR" sz="2400" dirty="0">
              <a:latin typeface="Arial" pitchFamily="34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2438400"/>
            <a:ext cx="7315200" cy="317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42910" y="5715016"/>
            <a:ext cx="3048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AR" sz="2400" dirty="0" err="1">
                <a:latin typeface="Arial" pitchFamily="34" charset="0"/>
              </a:rPr>
              <a:t>Amort</a:t>
            </a:r>
            <a:r>
              <a:rPr lang="es-AR" sz="2400" dirty="0">
                <a:latin typeface="Arial" pitchFamily="34" charset="0"/>
              </a:rPr>
              <a:t>= </a:t>
            </a:r>
            <a:r>
              <a:rPr lang="es-AR" sz="2400" u="sng" dirty="0">
                <a:latin typeface="Arial" pitchFamily="34" charset="0"/>
              </a:rPr>
              <a:t>(</a:t>
            </a:r>
            <a:r>
              <a:rPr lang="es-AR" sz="2400" u="sng" dirty="0" err="1">
                <a:latin typeface="Arial" pitchFamily="34" charset="0"/>
              </a:rPr>
              <a:t>Vrep-Vres</a:t>
            </a:r>
            <a:r>
              <a:rPr lang="es-AR" sz="2400" u="sng" dirty="0">
                <a:latin typeface="Arial" pitchFamily="34" charset="0"/>
              </a:rPr>
              <a:t>)</a:t>
            </a:r>
          </a:p>
          <a:p>
            <a:pPr eaLnBrk="0" hangingPunct="0"/>
            <a:r>
              <a:rPr lang="es-AR" sz="2400" dirty="0">
                <a:latin typeface="Arial" pitchFamily="34" charset="0"/>
              </a:rPr>
              <a:t>               Vida </a:t>
            </a:r>
            <a:r>
              <a:rPr lang="es-AR" sz="2400" dirty="0" err="1">
                <a:latin typeface="Arial" pitchFamily="34" charset="0"/>
              </a:rPr>
              <a:t>Util</a:t>
            </a:r>
            <a:endParaRPr lang="es-AR" sz="2400" dirty="0">
              <a:latin typeface="Arial" pitchFamily="34" charset="0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3962400" y="5638800"/>
            <a:ext cx="51816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AR" sz="2000" b="1" dirty="0"/>
              <a:t>V.A.T.= </a:t>
            </a:r>
            <a:r>
              <a:rPr lang="es-AR" sz="2000" b="1" dirty="0">
                <a:latin typeface="Symbol" pitchFamily="18" charset="2"/>
              </a:rPr>
              <a:t>S </a:t>
            </a:r>
            <a:r>
              <a:rPr lang="es-AR" sz="2000" b="1" dirty="0"/>
              <a:t>(</a:t>
            </a:r>
            <a:r>
              <a:rPr lang="es-AR" sz="2000" b="1" dirty="0" err="1"/>
              <a:t>Vrep-Amort</a:t>
            </a:r>
            <a:r>
              <a:rPr lang="es-AR" sz="2000" b="1" dirty="0"/>
              <a:t> x </a:t>
            </a:r>
            <a:r>
              <a:rPr lang="es-AR" sz="2000" b="1" dirty="0" err="1"/>
              <a:t>Ant</a:t>
            </a:r>
            <a:r>
              <a:rPr lang="es-AR" sz="2000" b="1" dirty="0"/>
              <a:t> </a:t>
            </a:r>
            <a:r>
              <a:rPr lang="es-AR" sz="2000" b="1" u="sng" dirty="0"/>
              <a:t>100-C</a:t>
            </a:r>
            <a:r>
              <a:rPr lang="es-AR" sz="2000" b="1" dirty="0"/>
              <a:t>  )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s-AR" sz="2000" b="1" dirty="0"/>
              <a:t>			            100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s-AR" sz="1800" b="1" dirty="0"/>
              <a:t>C: Estado de conservación- Lo estima el Ingeniero</a:t>
            </a:r>
            <a:endParaRPr lang="es-A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smtClean="0"/>
              <a:t>BIBLIOGRAFÍA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Monotype Sorts"/>
              <a:buNone/>
            </a:pPr>
            <a:r>
              <a:rPr lang="es-ES_tradnl" sz="2400" dirty="0" smtClean="0"/>
              <a:t>* Ingeniería y Derecho Tomo II - </a:t>
            </a:r>
            <a:r>
              <a:rPr lang="es-ES_tradnl" sz="2400" dirty="0" err="1" smtClean="0"/>
              <a:t>Casella</a:t>
            </a:r>
            <a:r>
              <a:rPr lang="es-ES_tradnl" sz="2400" dirty="0" smtClean="0"/>
              <a:t> y Faro</a:t>
            </a:r>
          </a:p>
          <a:p>
            <a:pPr eaLnBrk="1" hangingPunct="1">
              <a:lnSpc>
                <a:spcPct val="80000"/>
              </a:lnSpc>
              <a:buFont typeface="Monotype Sorts"/>
              <a:buNone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Monotype Sorts"/>
              <a:buNone/>
            </a:pPr>
            <a:r>
              <a:rPr lang="es-ES_tradnl" sz="2400" dirty="0" smtClean="0"/>
              <a:t>* Ingeniería de Valuación - </a:t>
            </a:r>
            <a:r>
              <a:rPr lang="es-ES_tradnl" sz="2400" dirty="0" err="1" smtClean="0"/>
              <a:t>Masston</a:t>
            </a:r>
            <a:r>
              <a:rPr lang="es-ES_tradnl" sz="2400" dirty="0" smtClean="0"/>
              <a:t> y </a:t>
            </a:r>
            <a:r>
              <a:rPr lang="es-ES_tradnl" sz="2400" dirty="0" err="1" smtClean="0"/>
              <a:t>Agg</a:t>
            </a: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Monotype Sorts"/>
              <a:buNone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Monotype Sorts"/>
              <a:buNone/>
            </a:pPr>
            <a:r>
              <a:rPr lang="es-ES_tradnl" sz="2400" dirty="0" smtClean="0"/>
              <a:t>* Valuación de Instalaciones Industriales - </a:t>
            </a:r>
            <a:r>
              <a:rPr lang="es-ES_tradnl" sz="2400" dirty="0" err="1" smtClean="0"/>
              <a:t>Marston</a:t>
            </a:r>
            <a:r>
              <a:rPr lang="es-ES_tradnl" sz="2400" dirty="0" smtClean="0"/>
              <a:t> y </a:t>
            </a:r>
            <a:r>
              <a:rPr lang="es-ES_tradnl" sz="2400" dirty="0" err="1" smtClean="0"/>
              <a:t>Winfrey</a:t>
            </a: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Monotype Sorts"/>
              <a:buNone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Arial" charset="0"/>
              <a:buChar char="•"/>
            </a:pPr>
            <a:r>
              <a:rPr lang="es-ES_tradnl" sz="2400" dirty="0" smtClean="0"/>
              <a:t>Manuales </a:t>
            </a:r>
            <a:r>
              <a:rPr lang="es-ES_tradnl" sz="2400" dirty="0" smtClean="0"/>
              <a:t>de Tasaciones - Ing. Guerrero, Ing. </a:t>
            </a:r>
            <a:r>
              <a:rPr lang="es-ES_tradnl" sz="2400" dirty="0" err="1" smtClean="0"/>
              <a:t>Chandías</a:t>
            </a:r>
            <a:r>
              <a:rPr lang="es-ES_tradnl" sz="2400" dirty="0" smtClean="0"/>
              <a:t>, Tribunal de Tasaciones de la Nación, Banco Hipotecario, </a:t>
            </a:r>
            <a:r>
              <a:rPr lang="es-ES_tradnl" sz="2400" smtClean="0"/>
              <a:t>INTI</a:t>
            </a:r>
            <a:r>
              <a:rPr lang="es-ES_tradnl" sz="2400" smtClean="0"/>
              <a:t>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buFont typeface="Arial" charset="0"/>
              <a:buChar char="•"/>
            </a:pPr>
            <a:r>
              <a:rPr lang="es-ES_tradnl" sz="2400" dirty="0" smtClean="0"/>
              <a:t>Apunte del </a:t>
            </a:r>
            <a:r>
              <a:rPr lang="es-ES_tradnl" sz="2400" dirty="0" err="1" smtClean="0"/>
              <a:t>Ing</a:t>
            </a:r>
            <a:r>
              <a:rPr lang="es-ES_tradnl" sz="2400" dirty="0" smtClean="0"/>
              <a:t> Daniel Martin – Presidente del TTN (Tribunal de Tasaciones de la Nación)</a:t>
            </a:r>
            <a:endParaRPr lang="es-ES_tradnl" sz="2400" dirty="0" smtClean="0"/>
          </a:p>
          <a:p>
            <a:pPr algn="just" eaLnBrk="1" hangingPunct="1">
              <a:lnSpc>
                <a:spcPct val="80000"/>
              </a:lnSpc>
            </a:pPr>
            <a:endParaRPr lang="es-ES_tradnl" sz="1800" dirty="0" smtClean="0"/>
          </a:p>
        </p:txBody>
      </p:sp>
      <p:pic>
        <p:nvPicPr>
          <p:cNvPr id="4" name="Picture 5" descr="http://materias.fi.uba.ar/7201/logo_fiuba_al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715016"/>
            <a:ext cx="2786082" cy="931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36D6FC8D75C744D9BAD685C927E4E46" ma:contentTypeVersion="23" ma:contentTypeDescription="Crear nuevo documento." ma:contentTypeScope="" ma:versionID="3cff52191d358103f6ad38aedbb04629">
  <xsd:schema xmlns:xsd="http://www.w3.org/2001/XMLSchema" xmlns:xs="http://www.w3.org/2001/XMLSchema" xmlns:p="http://schemas.microsoft.com/office/2006/metadata/properties" xmlns:ns2="8f186b29-efb0-4c95-9734-dcdfe90bb4e3" xmlns:ns3="611d7ac0-50e8-424e-adda-d6cfb32f0ce7" targetNamespace="http://schemas.microsoft.com/office/2006/metadata/properties" ma:root="true" ma:fieldsID="8ff3cda46b278c299f0909f38cfc95a3" ns2:_="" ns3:_="">
    <xsd:import namespace="8f186b29-efb0-4c95-9734-dcdfe90bb4e3"/>
    <xsd:import namespace="611d7ac0-50e8-424e-adda-d6cfb32f0c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Fechayhora" minOccurs="0"/>
                <xsd:element ref="ns2:Fecha" minOccurs="0"/>
                <xsd:element ref="ns2:MediaServiceObjectDetectorVersions" minOccurs="0"/>
                <xsd:element ref="ns2:MediaServiceSearchProperties" minOccurs="0"/>
                <xsd:element ref="ns2:Parciales2024" minOccurs="0"/>
                <xsd:element ref="ns2:nu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86b29-efb0-4c95-9734-dcdfe90bb4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4bef1c8-9f01-4f60-ab7f-6a0a8d3750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Fechayhora" ma:index="24" nillable="true" ma:displayName="Fecha y hora" ma:format="DateTime" ma:internalName="Fechayhora">
      <xsd:simpleType>
        <xsd:restriction base="dms:DateTime"/>
      </xsd:simpleType>
    </xsd:element>
    <xsd:element name="Fecha" ma:index="25" nillable="true" ma:displayName="Fecha" ma:format="DateTime" ma:internalName="Fecha">
      <xsd:simpleType>
        <xsd:restriction base="dms:DateTim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arciales2024" ma:index="28" nillable="true" ma:displayName="Parciales 2024" ma:format="Dropdown" ma:internalName="Parciales2024">
      <xsd:simpleType>
        <xsd:restriction base="dms:Text">
          <xsd:maxLength value="255"/>
        </xsd:restriction>
      </xsd:simpleType>
    </xsd:element>
    <xsd:element name="nu" ma:index="29" nillable="true" ma:displayName="nu" ma:format="Dropdown" ma:internalName="nu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1d7ac0-50e8-424e-adda-d6cfb32f0ce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1e15c7c-8385-4723-8581-47c9e789c88f}" ma:internalName="TaxCatchAll" ma:showField="CatchAllData" ma:web="611d7ac0-50e8-424e-adda-d6cfb32f0c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186b29-efb0-4c95-9734-dcdfe90bb4e3">
      <Terms xmlns="http://schemas.microsoft.com/office/infopath/2007/PartnerControls"/>
    </lcf76f155ced4ddcb4097134ff3c332f>
    <TaxCatchAll xmlns="611d7ac0-50e8-424e-adda-d6cfb32f0ce7" xsi:nil="true"/>
    <Fechayhora xmlns="8f186b29-efb0-4c95-9734-dcdfe90bb4e3" xsi:nil="true"/>
    <Fecha xmlns="8f186b29-efb0-4c95-9734-dcdfe90bb4e3" xsi:nil="true"/>
    <Parciales2024 xmlns="8f186b29-efb0-4c95-9734-dcdfe90bb4e3" xsi:nil="true"/>
    <nu xmlns="8f186b29-efb0-4c95-9734-dcdfe90bb4e3" xsi:nil="true"/>
  </documentManagement>
</p:properties>
</file>

<file path=customXml/itemProps1.xml><?xml version="1.0" encoding="utf-8"?>
<ds:datastoreItem xmlns:ds="http://schemas.openxmlformats.org/officeDocument/2006/customXml" ds:itemID="{A7257755-CDC7-4CB0-8085-9AF824BFD383}"/>
</file>

<file path=customXml/itemProps2.xml><?xml version="1.0" encoding="utf-8"?>
<ds:datastoreItem xmlns:ds="http://schemas.openxmlformats.org/officeDocument/2006/customXml" ds:itemID="{E1825E0A-B9DB-4F31-AD63-6051A6B6FADE}"/>
</file>

<file path=customXml/itemProps3.xml><?xml version="1.0" encoding="utf-8"?>
<ds:datastoreItem xmlns:ds="http://schemas.openxmlformats.org/officeDocument/2006/customXml" ds:itemID="{0BF6AFAC-40C5-4019-8B8D-C0972F44EB2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1038</Words>
  <Application>Microsoft Office PowerPoint</Application>
  <PresentationFormat>Presentación en pantalla (4:3)</PresentationFormat>
  <Paragraphs>173</Paragraphs>
  <Slides>18</Slides>
  <Notes>12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Tema de Office</vt:lpstr>
      <vt:lpstr>Gráfico de Microsoft Excel</vt:lpstr>
      <vt:lpstr>Presentación de PowerPoint</vt:lpstr>
      <vt:lpstr>MÉTODOS DE VALUACIÓN</vt:lpstr>
      <vt:lpstr>MÉTODOS DE VALUACIÓN</vt:lpstr>
      <vt:lpstr>DEFINICIONES PREVIAS</vt:lpstr>
      <vt:lpstr>OBJETO DE LA VALUACIÓN PARA QUÉ SE VALÚA?</vt:lpstr>
      <vt:lpstr>PROCEDIMIENTO PARA VALUAR</vt:lpstr>
      <vt:lpstr>METODO COMPARATIVO (valuación de un terreno)</vt:lpstr>
      <vt:lpstr>METODO EMPIRICO - VALUACIÓN TÉCNICA</vt:lpstr>
      <vt:lpstr>DEPRECIACIÓN DE ROSS HEIDECKE</vt:lpstr>
      <vt:lpstr>OTRAS CURVAS DE DEPRECIACIÓN</vt:lpstr>
      <vt:lpstr>VALUACIÓN DE UN EDIFICIO, CONSTRUCCIÓN O MEDIANERA (método empírico) </vt:lpstr>
      <vt:lpstr>Presentación de PowerPoint</vt:lpstr>
      <vt:lpstr>Presentación de PowerPoint</vt:lpstr>
      <vt:lpstr>VALUACIONES TECNICAS Ejemplo de Valoración</vt:lpstr>
      <vt:lpstr>VALUACIONES TECNICAS Ejemplo de Valoración</vt:lpstr>
      <vt:lpstr>VALUACIONES TECNICAS Ejemplo  de Valoración de edificio</vt:lpstr>
      <vt:lpstr>VALUACIONES TECNICAS Ejemplo de Valoración de máquinas</vt:lpstr>
      <vt:lpstr>BIBLIOGRAFÍA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creator>A.P.B.</dc:creator>
  <cp:lastModifiedBy>Andrés Artopoulos</cp:lastModifiedBy>
  <cp:revision>41</cp:revision>
  <dcterms:created xsi:type="dcterms:W3CDTF">2002-06-27T14:32:31Z</dcterms:created>
  <dcterms:modified xsi:type="dcterms:W3CDTF">2015-05-08T21:50:31Z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0x010100536D6FC8D75C744D9BAD685C927E4E46</vt:lpwstr>
  </property>
  <property fmtid="{D5CDD505-2E9C-101B-9397-08002B2CF9AE}" pid="3" name="MediaServiceImageTags">
    <vt:lpwstr/>
  </property>
</Properties>
</file>